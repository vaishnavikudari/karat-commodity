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IBM Plex Sans" panose="020B0503050203000203" pitchFamily="34" charset="0"/>
      <p:regular r:id="rId11"/>
      <p:bold r:id="rId12"/>
    </p:embeddedFont>
    <p:embeddedFont>
      <p:font typeface="Montserrat" panose="000005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0B730-E6D5-4966-87EA-F6A54FFEFFCA}" v="1" dt="2026-10-06T06:15:05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Kudari" userId="3ea4785ef32ebe0e" providerId="LiveId" clId="{37409AB7-0585-4960-BBD7-6E9320AFAC16}"/>
    <pc:docChg chg="custSel modSld">
      <pc:chgData name="Vaishnavi Kudari" userId="3ea4785ef32ebe0e" providerId="LiveId" clId="{37409AB7-0585-4960-BBD7-6E9320AFAC16}" dt="2026-10-06T06:15:43.265" v="1" actId="478"/>
      <pc:docMkLst>
        <pc:docMk/>
      </pc:docMkLst>
      <pc:sldChg chg="modNotes">
        <pc:chgData name="Vaishnavi Kudari" userId="3ea4785ef32ebe0e" providerId="LiveId" clId="{37409AB7-0585-4960-BBD7-6E9320AFAC16}" dt="2026-10-06T06:15:05.698" v="0"/>
        <pc:sldMkLst>
          <pc:docMk/>
          <pc:sldMk cId="0" sldId="262"/>
        </pc:sldMkLst>
      </pc:sldChg>
      <pc:sldChg chg="delSp mod">
        <pc:chgData name="Vaishnavi Kudari" userId="3ea4785ef32ebe0e" providerId="LiveId" clId="{37409AB7-0585-4960-BBD7-6E9320AFAC16}" dt="2026-10-06T06:15:43.265" v="1" actId="478"/>
        <pc:sldMkLst>
          <pc:docMk/>
          <pc:sldMk cId="0" sldId="263"/>
        </pc:sldMkLst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1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2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3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4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5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6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7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8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69" creationId="{00000000-0000-0000-0000-000000000000}"/>
          </ac:spMkLst>
        </pc:spChg>
        <pc:spChg chg="del">
          <ac:chgData name="Vaishnavi Kudari" userId="3ea4785ef32ebe0e" providerId="LiveId" clId="{37409AB7-0585-4960-BBD7-6E9320AFAC16}" dt="2026-10-06T06:15:43.265" v="1" actId="478"/>
          <ac:spMkLst>
            <pc:docMk/>
            <pc:sldMk cId="0" sldId="263"/>
            <ac:spMk id="17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800" b="1">
                <a:solidFill>
                  <a:srgbClr val="1D1D1F"/>
                </a:solidFill>
                <a:latin typeface="Montserrat"/>
              </a:rPr>
              <a:t>GOLDM vs GOLDTEN spread, z-score by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 (z)</c:v>
                </c:pt>
              </c:strCache>
            </c:strRef>
          </c:tx>
          <c:spPr>
            <a:ln w="28575">
              <a:solidFill>
                <a:srgbClr val="3E5266"/>
              </a:solidFill>
            </a:ln>
          </c:spPr>
          <c:marker>
            <c:symbol val="none"/>
          </c:marker>
          <c:cat>
            <c:strRef>
              <c:f>Sheet1!$A$2:$A$121</c:f>
              <c:strCache>
                <c:ptCount val="120"/>
                <c:pt idx="0">
                  <c:v>0</c:v>
                </c:pt>
                <c:pt idx="20">
                  <c:v>20</c:v>
                </c:pt>
                <c:pt idx="40">
                  <c:v>40</c:v>
                </c:pt>
                <c:pt idx="60">
                  <c:v>60</c:v>
                </c:pt>
                <c:pt idx="80">
                  <c:v>80</c:v>
                </c:pt>
                <c:pt idx="100">
                  <c:v>100</c:v>
                </c:pt>
              </c:strCache>
            </c: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0.55000000000000004</c:v>
                </c:pt>
                <c:pt idx="1">
                  <c:v>0.55000000000000004</c:v>
                </c:pt>
                <c:pt idx="2">
                  <c:v>0.72</c:v>
                </c:pt>
                <c:pt idx="3">
                  <c:v>0.54</c:v>
                </c:pt>
                <c:pt idx="4">
                  <c:v>0.03</c:v>
                </c:pt>
                <c:pt idx="5">
                  <c:v>-0.15</c:v>
                </c:pt>
                <c:pt idx="6">
                  <c:v>-0.6</c:v>
                </c:pt>
                <c:pt idx="7">
                  <c:v>-0.4</c:v>
                </c:pt>
                <c:pt idx="8">
                  <c:v>0.51</c:v>
                </c:pt>
                <c:pt idx="9">
                  <c:v>0.23</c:v>
                </c:pt>
                <c:pt idx="10">
                  <c:v>-7.0000000000000007E-2</c:v>
                </c:pt>
                <c:pt idx="11">
                  <c:v>0.3</c:v>
                </c:pt>
                <c:pt idx="12">
                  <c:v>0.54</c:v>
                </c:pt>
                <c:pt idx="13">
                  <c:v>0.6</c:v>
                </c:pt>
                <c:pt idx="14">
                  <c:v>0.06</c:v>
                </c:pt>
                <c:pt idx="15">
                  <c:v>0.12</c:v>
                </c:pt>
                <c:pt idx="16">
                  <c:v>0.57999999999999996</c:v>
                </c:pt>
                <c:pt idx="17">
                  <c:v>-0.19</c:v>
                </c:pt>
                <c:pt idx="18">
                  <c:v>-0.34</c:v>
                </c:pt>
                <c:pt idx="19">
                  <c:v>-1.28</c:v>
                </c:pt>
                <c:pt idx="20">
                  <c:v>-1.74</c:v>
                </c:pt>
                <c:pt idx="21">
                  <c:v>-2.44</c:v>
                </c:pt>
                <c:pt idx="22">
                  <c:v>-2.13</c:v>
                </c:pt>
                <c:pt idx="23">
                  <c:v>-2.4500000000000002</c:v>
                </c:pt>
                <c:pt idx="24">
                  <c:v>-1.84</c:v>
                </c:pt>
                <c:pt idx="25">
                  <c:v>-1.39</c:v>
                </c:pt>
                <c:pt idx="26">
                  <c:v>-1.21</c:v>
                </c:pt>
                <c:pt idx="27">
                  <c:v>-2.37</c:v>
                </c:pt>
                <c:pt idx="28">
                  <c:v>-2.2400000000000002</c:v>
                </c:pt>
                <c:pt idx="29">
                  <c:v>-1.85</c:v>
                </c:pt>
                <c:pt idx="30">
                  <c:v>-1.43</c:v>
                </c:pt>
                <c:pt idx="31">
                  <c:v>-2</c:v>
                </c:pt>
                <c:pt idx="32">
                  <c:v>-1.89</c:v>
                </c:pt>
                <c:pt idx="33">
                  <c:v>-2.08</c:v>
                </c:pt>
                <c:pt idx="34">
                  <c:v>-2.14</c:v>
                </c:pt>
                <c:pt idx="35">
                  <c:v>-1.1399999999999999</c:v>
                </c:pt>
                <c:pt idx="36">
                  <c:v>-1.34</c:v>
                </c:pt>
                <c:pt idx="37">
                  <c:v>-1.08</c:v>
                </c:pt>
                <c:pt idx="38">
                  <c:v>-0.33</c:v>
                </c:pt>
                <c:pt idx="39">
                  <c:v>-0.53</c:v>
                </c:pt>
                <c:pt idx="40">
                  <c:v>-0.43</c:v>
                </c:pt>
                <c:pt idx="41">
                  <c:v>-0.22</c:v>
                </c:pt>
                <c:pt idx="42">
                  <c:v>-7.0000000000000007E-2</c:v>
                </c:pt>
                <c:pt idx="43">
                  <c:v>-0.67</c:v>
                </c:pt>
                <c:pt idx="44">
                  <c:v>-0.45</c:v>
                </c:pt>
                <c:pt idx="45">
                  <c:v>0.47</c:v>
                </c:pt>
                <c:pt idx="46">
                  <c:v>-0.39</c:v>
                </c:pt>
                <c:pt idx="47">
                  <c:v>0.24</c:v>
                </c:pt>
                <c:pt idx="48">
                  <c:v>0.35</c:v>
                </c:pt>
                <c:pt idx="49">
                  <c:v>0.02</c:v>
                </c:pt>
                <c:pt idx="50">
                  <c:v>1.23</c:v>
                </c:pt>
                <c:pt idx="51">
                  <c:v>1.56</c:v>
                </c:pt>
                <c:pt idx="52">
                  <c:v>0.73</c:v>
                </c:pt>
                <c:pt idx="53">
                  <c:v>0.75</c:v>
                </c:pt>
                <c:pt idx="54">
                  <c:v>1.04</c:v>
                </c:pt>
                <c:pt idx="55">
                  <c:v>0.86</c:v>
                </c:pt>
                <c:pt idx="56">
                  <c:v>1.2</c:v>
                </c:pt>
                <c:pt idx="57">
                  <c:v>1.07</c:v>
                </c:pt>
                <c:pt idx="58">
                  <c:v>1.37</c:v>
                </c:pt>
                <c:pt idx="59">
                  <c:v>2.06</c:v>
                </c:pt>
                <c:pt idx="60">
                  <c:v>1.45</c:v>
                </c:pt>
                <c:pt idx="61">
                  <c:v>1.43</c:v>
                </c:pt>
                <c:pt idx="62">
                  <c:v>1.04</c:v>
                </c:pt>
                <c:pt idx="63">
                  <c:v>1.04</c:v>
                </c:pt>
                <c:pt idx="64">
                  <c:v>0.28999999999999998</c:v>
                </c:pt>
                <c:pt idx="65">
                  <c:v>0</c:v>
                </c:pt>
                <c:pt idx="66">
                  <c:v>-0.03</c:v>
                </c:pt>
                <c:pt idx="67">
                  <c:v>0.56999999999999995</c:v>
                </c:pt>
                <c:pt idx="68">
                  <c:v>1.21</c:v>
                </c:pt>
                <c:pt idx="69">
                  <c:v>0.36</c:v>
                </c:pt>
                <c:pt idx="70">
                  <c:v>-0.06</c:v>
                </c:pt>
                <c:pt idx="71">
                  <c:v>0.4</c:v>
                </c:pt>
                <c:pt idx="72">
                  <c:v>-0.71</c:v>
                </c:pt>
                <c:pt idx="73">
                  <c:v>-0.78</c:v>
                </c:pt>
                <c:pt idx="74">
                  <c:v>-0.64</c:v>
                </c:pt>
                <c:pt idx="75">
                  <c:v>0.25</c:v>
                </c:pt>
                <c:pt idx="76">
                  <c:v>0.69</c:v>
                </c:pt>
                <c:pt idx="77">
                  <c:v>0.48</c:v>
                </c:pt>
                <c:pt idx="78">
                  <c:v>0.28000000000000003</c:v>
                </c:pt>
                <c:pt idx="79">
                  <c:v>0.18</c:v>
                </c:pt>
                <c:pt idx="80">
                  <c:v>1.1000000000000001</c:v>
                </c:pt>
                <c:pt idx="81">
                  <c:v>0.78</c:v>
                </c:pt>
                <c:pt idx="82">
                  <c:v>0.56999999999999995</c:v>
                </c:pt>
                <c:pt idx="83">
                  <c:v>0.77</c:v>
                </c:pt>
                <c:pt idx="84">
                  <c:v>0.67</c:v>
                </c:pt>
                <c:pt idx="85">
                  <c:v>0.54</c:v>
                </c:pt>
                <c:pt idx="86">
                  <c:v>-0.09</c:v>
                </c:pt>
                <c:pt idx="87">
                  <c:v>0</c:v>
                </c:pt>
                <c:pt idx="88">
                  <c:v>-0.17</c:v>
                </c:pt>
                <c:pt idx="89">
                  <c:v>0.6</c:v>
                </c:pt>
                <c:pt idx="90">
                  <c:v>0.96</c:v>
                </c:pt>
                <c:pt idx="91">
                  <c:v>0.89</c:v>
                </c:pt>
                <c:pt idx="92">
                  <c:v>1.21</c:v>
                </c:pt>
                <c:pt idx="93">
                  <c:v>0.92</c:v>
                </c:pt>
                <c:pt idx="94">
                  <c:v>1.46</c:v>
                </c:pt>
                <c:pt idx="95">
                  <c:v>1.32</c:v>
                </c:pt>
                <c:pt idx="96">
                  <c:v>1.54</c:v>
                </c:pt>
                <c:pt idx="97">
                  <c:v>0.66</c:v>
                </c:pt>
                <c:pt idx="98">
                  <c:v>0.84</c:v>
                </c:pt>
                <c:pt idx="99">
                  <c:v>-0.16</c:v>
                </c:pt>
                <c:pt idx="100">
                  <c:v>-1.21</c:v>
                </c:pt>
                <c:pt idx="101">
                  <c:v>-1.1200000000000001</c:v>
                </c:pt>
                <c:pt idx="102">
                  <c:v>-1.38</c:v>
                </c:pt>
                <c:pt idx="103">
                  <c:v>-1</c:v>
                </c:pt>
                <c:pt idx="104">
                  <c:v>0.51</c:v>
                </c:pt>
                <c:pt idx="105">
                  <c:v>0.04</c:v>
                </c:pt>
                <c:pt idx="106">
                  <c:v>-0.24</c:v>
                </c:pt>
                <c:pt idx="107">
                  <c:v>0</c:v>
                </c:pt>
                <c:pt idx="108">
                  <c:v>0.36</c:v>
                </c:pt>
                <c:pt idx="109">
                  <c:v>0.28999999999999998</c:v>
                </c:pt>
                <c:pt idx="110">
                  <c:v>0.21</c:v>
                </c:pt>
                <c:pt idx="111">
                  <c:v>0.66</c:v>
                </c:pt>
                <c:pt idx="112">
                  <c:v>0.94</c:v>
                </c:pt>
                <c:pt idx="113">
                  <c:v>0.28999999999999998</c:v>
                </c:pt>
                <c:pt idx="114">
                  <c:v>0.28999999999999998</c:v>
                </c:pt>
                <c:pt idx="115">
                  <c:v>0.35</c:v>
                </c:pt>
                <c:pt idx="116">
                  <c:v>-0.22</c:v>
                </c:pt>
                <c:pt idx="117">
                  <c:v>0.04</c:v>
                </c:pt>
                <c:pt idx="118">
                  <c:v>-0.37</c:v>
                </c:pt>
                <c:pt idx="119">
                  <c:v>0.32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71-4EEA-A891-AB04699E37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+2 entry</c:v>
                </c:pt>
              </c:strCache>
            </c:strRef>
          </c:tx>
          <c:spPr>
            <a:ln w="19050">
              <a:solidFill>
                <a:srgbClr val="D9822B"/>
              </a:solidFill>
            </a:ln>
          </c:spPr>
          <c:marker>
            <c:symbol val="none"/>
          </c:marker>
          <c:cat>
            <c:strRef>
              <c:f>Sheet1!$A$2:$A$121</c:f>
              <c:strCache>
                <c:ptCount val="120"/>
                <c:pt idx="0">
                  <c:v>0</c:v>
                </c:pt>
                <c:pt idx="20">
                  <c:v>20</c:v>
                </c:pt>
                <c:pt idx="40">
                  <c:v>40</c:v>
                </c:pt>
                <c:pt idx="60">
                  <c:v>60</c:v>
                </c:pt>
                <c:pt idx="80">
                  <c:v>80</c:v>
                </c:pt>
                <c:pt idx="100">
                  <c:v>100</c:v>
                </c:pt>
              </c:strCache>
            </c:str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2</c:v>
                </c:pt>
                <c:pt idx="90">
                  <c:v>2</c:v>
                </c:pt>
                <c:pt idx="91">
                  <c:v>2</c:v>
                </c:pt>
                <c:pt idx="92">
                  <c:v>2</c:v>
                </c:pt>
                <c:pt idx="93">
                  <c:v>2</c:v>
                </c:pt>
                <c:pt idx="94">
                  <c:v>2</c:v>
                </c:pt>
                <c:pt idx="95">
                  <c:v>2</c:v>
                </c:pt>
                <c:pt idx="96">
                  <c:v>2</c:v>
                </c:pt>
                <c:pt idx="97">
                  <c:v>2</c:v>
                </c:pt>
                <c:pt idx="98">
                  <c:v>2</c:v>
                </c:pt>
                <c:pt idx="99">
                  <c:v>2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71-4EEA-A891-AB04699E37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-2 entry</c:v>
                </c:pt>
              </c:strCache>
            </c:strRef>
          </c:tx>
          <c:spPr>
            <a:ln w="19050">
              <a:solidFill>
                <a:srgbClr val="D9822B"/>
              </a:solidFill>
            </a:ln>
          </c:spPr>
          <c:marker>
            <c:symbol val="none"/>
          </c:marker>
          <c:cat>
            <c:strRef>
              <c:f>Sheet1!$A$2:$A$121</c:f>
              <c:strCache>
                <c:ptCount val="120"/>
                <c:pt idx="0">
                  <c:v>0</c:v>
                </c:pt>
                <c:pt idx="20">
                  <c:v>20</c:v>
                </c:pt>
                <c:pt idx="40">
                  <c:v>40</c:v>
                </c:pt>
                <c:pt idx="60">
                  <c:v>60</c:v>
                </c:pt>
                <c:pt idx="80">
                  <c:v>80</c:v>
                </c:pt>
                <c:pt idx="100">
                  <c:v>100</c:v>
                </c:pt>
              </c:strCache>
            </c:strRef>
          </c:cat>
          <c:val>
            <c:numRef>
              <c:f>Sheet1!$D$2:$D$121</c:f>
              <c:numCache>
                <c:formatCode>General</c:formatCode>
                <c:ptCount val="120"/>
                <c:pt idx="0">
                  <c:v>-2</c:v>
                </c:pt>
                <c:pt idx="1">
                  <c:v>-2</c:v>
                </c:pt>
                <c:pt idx="2">
                  <c:v>-2</c:v>
                </c:pt>
                <c:pt idx="3">
                  <c:v>-2</c:v>
                </c:pt>
                <c:pt idx="4">
                  <c:v>-2</c:v>
                </c:pt>
                <c:pt idx="5">
                  <c:v>-2</c:v>
                </c:pt>
                <c:pt idx="6">
                  <c:v>-2</c:v>
                </c:pt>
                <c:pt idx="7">
                  <c:v>-2</c:v>
                </c:pt>
                <c:pt idx="8">
                  <c:v>-2</c:v>
                </c:pt>
                <c:pt idx="9">
                  <c:v>-2</c:v>
                </c:pt>
                <c:pt idx="10">
                  <c:v>-2</c:v>
                </c:pt>
                <c:pt idx="11">
                  <c:v>-2</c:v>
                </c:pt>
                <c:pt idx="12">
                  <c:v>-2</c:v>
                </c:pt>
                <c:pt idx="13">
                  <c:v>-2</c:v>
                </c:pt>
                <c:pt idx="14">
                  <c:v>-2</c:v>
                </c:pt>
                <c:pt idx="15">
                  <c:v>-2</c:v>
                </c:pt>
                <c:pt idx="16">
                  <c:v>-2</c:v>
                </c:pt>
                <c:pt idx="17">
                  <c:v>-2</c:v>
                </c:pt>
                <c:pt idx="18">
                  <c:v>-2</c:v>
                </c:pt>
                <c:pt idx="19">
                  <c:v>-2</c:v>
                </c:pt>
                <c:pt idx="20">
                  <c:v>-2</c:v>
                </c:pt>
                <c:pt idx="21">
                  <c:v>-2</c:v>
                </c:pt>
                <c:pt idx="22">
                  <c:v>-2</c:v>
                </c:pt>
                <c:pt idx="23">
                  <c:v>-2</c:v>
                </c:pt>
                <c:pt idx="24">
                  <c:v>-2</c:v>
                </c:pt>
                <c:pt idx="25">
                  <c:v>-2</c:v>
                </c:pt>
                <c:pt idx="26">
                  <c:v>-2</c:v>
                </c:pt>
                <c:pt idx="27">
                  <c:v>-2</c:v>
                </c:pt>
                <c:pt idx="28">
                  <c:v>-2</c:v>
                </c:pt>
                <c:pt idx="29">
                  <c:v>-2</c:v>
                </c:pt>
                <c:pt idx="30">
                  <c:v>-2</c:v>
                </c:pt>
                <c:pt idx="31">
                  <c:v>-2</c:v>
                </c:pt>
                <c:pt idx="32">
                  <c:v>-2</c:v>
                </c:pt>
                <c:pt idx="33">
                  <c:v>-2</c:v>
                </c:pt>
                <c:pt idx="34">
                  <c:v>-2</c:v>
                </c:pt>
                <c:pt idx="35">
                  <c:v>-2</c:v>
                </c:pt>
                <c:pt idx="36">
                  <c:v>-2</c:v>
                </c:pt>
                <c:pt idx="37">
                  <c:v>-2</c:v>
                </c:pt>
                <c:pt idx="38">
                  <c:v>-2</c:v>
                </c:pt>
                <c:pt idx="39">
                  <c:v>-2</c:v>
                </c:pt>
                <c:pt idx="40">
                  <c:v>-2</c:v>
                </c:pt>
                <c:pt idx="41">
                  <c:v>-2</c:v>
                </c:pt>
                <c:pt idx="42">
                  <c:v>-2</c:v>
                </c:pt>
                <c:pt idx="43">
                  <c:v>-2</c:v>
                </c:pt>
                <c:pt idx="44">
                  <c:v>-2</c:v>
                </c:pt>
                <c:pt idx="45">
                  <c:v>-2</c:v>
                </c:pt>
                <c:pt idx="46">
                  <c:v>-2</c:v>
                </c:pt>
                <c:pt idx="47">
                  <c:v>-2</c:v>
                </c:pt>
                <c:pt idx="48">
                  <c:v>-2</c:v>
                </c:pt>
                <c:pt idx="49">
                  <c:v>-2</c:v>
                </c:pt>
                <c:pt idx="50">
                  <c:v>-2</c:v>
                </c:pt>
                <c:pt idx="51">
                  <c:v>-2</c:v>
                </c:pt>
                <c:pt idx="52">
                  <c:v>-2</c:v>
                </c:pt>
                <c:pt idx="53">
                  <c:v>-2</c:v>
                </c:pt>
                <c:pt idx="54">
                  <c:v>-2</c:v>
                </c:pt>
                <c:pt idx="55">
                  <c:v>-2</c:v>
                </c:pt>
                <c:pt idx="56">
                  <c:v>-2</c:v>
                </c:pt>
                <c:pt idx="57">
                  <c:v>-2</c:v>
                </c:pt>
                <c:pt idx="58">
                  <c:v>-2</c:v>
                </c:pt>
                <c:pt idx="59">
                  <c:v>-2</c:v>
                </c:pt>
                <c:pt idx="60">
                  <c:v>-2</c:v>
                </c:pt>
                <c:pt idx="61">
                  <c:v>-2</c:v>
                </c:pt>
                <c:pt idx="62">
                  <c:v>-2</c:v>
                </c:pt>
                <c:pt idx="63">
                  <c:v>-2</c:v>
                </c:pt>
                <c:pt idx="64">
                  <c:v>-2</c:v>
                </c:pt>
                <c:pt idx="65">
                  <c:v>-2</c:v>
                </c:pt>
                <c:pt idx="66">
                  <c:v>-2</c:v>
                </c:pt>
                <c:pt idx="67">
                  <c:v>-2</c:v>
                </c:pt>
                <c:pt idx="68">
                  <c:v>-2</c:v>
                </c:pt>
                <c:pt idx="69">
                  <c:v>-2</c:v>
                </c:pt>
                <c:pt idx="70">
                  <c:v>-2</c:v>
                </c:pt>
                <c:pt idx="71">
                  <c:v>-2</c:v>
                </c:pt>
                <c:pt idx="72">
                  <c:v>-2</c:v>
                </c:pt>
                <c:pt idx="73">
                  <c:v>-2</c:v>
                </c:pt>
                <c:pt idx="74">
                  <c:v>-2</c:v>
                </c:pt>
                <c:pt idx="75">
                  <c:v>-2</c:v>
                </c:pt>
                <c:pt idx="76">
                  <c:v>-2</c:v>
                </c:pt>
                <c:pt idx="77">
                  <c:v>-2</c:v>
                </c:pt>
                <c:pt idx="78">
                  <c:v>-2</c:v>
                </c:pt>
                <c:pt idx="79">
                  <c:v>-2</c:v>
                </c:pt>
                <c:pt idx="80">
                  <c:v>-2</c:v>
                </c:pt>
                <c:pt idx="81">
                  <c:v>-2</c:v>
                </c:pt>
                <c:pt idx="82">
                  <c:v>-2</c:v>
                </c:pt>
                <c:pt idx="83">
                  <c:v>-2</c:v>
                </c:pt>
                <c:pt idx="84">
                  <c:v>-2</c:v>
                </c:pt>
                <c:pt idx="85">
                  <c:v>-2</c:v>
                </c:pt>
                <c:pt idx="86">
                  <c:v>-2</c:v>
                </c:pt>
                <c:pt idx="87">
                  <c:v>-2</c:v>
                </c:pt>
                <c:pt idx="88">
                  <c:v>-2</c:v>
                </c:pt>
                <c:pt idx="89">
                  <c:v>-2</c:v>
                </c:pt>
                <c:pt idx="90">
                  <c:v>-2</c:v>
                </c:pt>
                <c:pt idx="91">
                  <c:v>-2</c:v>
                </c:pt>
                <c:pt idx="92">
                  <c:v>-2</c:v>
                </c:pt>
                <c:pt idx="93">
                  <c:v>-2</c:v>
                </c:pt>
                <c:pt idx="94">
                  <c:v>-2</c:v>
                </c:pt>
                <c:pt idx="95">
                  <c:v>-2</c:v>
                </c:pt>
                <c:pt idx="96">
                  <c:v>-2</c:v>
                </c:pt>
                <c:pt idx="97">
                  <c:v>-2</c:v>
                </c:pt>
                <c:pt idx="98">
                  <c:v>-2</c:v>
                </c:pt>
                <c:pt idx="99">
                  <c:v>-2</c:v>
                </c:pt>
                <c:pt idx="100">
                  <c:v>-2</c:v>
                </c:pt>
                <c:pt idx="101">
                  <c:v>-2</c:v>
                </c:pt>
                <c:pt idx="102">
                  <c:v>-2</c:v>
                </c:pt>
                <c:pt idx="103">
                  <c:v>-2</c:v>
                </c:pt>
                <c:pt idx="104">
                  <c:v>-2</c:v>
                </c:pt>
                <c:pt idx="105">
                  <c:v>-2</c:v>
                </c:pt>
                <c:pt idx="106">
                  <c:v>-2</c:v>
                </c:pt>
                <c:pt idx="107">
                  <c:v>-2</c:v>
                </c:pt>
                <c:pt idx="108">
                  <c:v>-2</c:v>
                </c:pt>
                <c:pt idx="109">
                  <c:v>-2</c:v>
                </c:pt>
                <c:pt idx="110">
                  <c:v>-2</c:v>
                </c:pt>
                <c:pt idx="111">
                  <c:v>-2</c:v>
                </c:pt>
                <c:pt idx="112">
                  <c:v>-2</c:v>
                </c:pt>
                <c:pt idx="113">
                  <c:v>-2</c:v>
                </c:pt>
                <c:pt idx="114">
                  <c:v>-2</c:v>
                </c:pt>
                <c:pt idx="115">
                  <c:v>-2</c:v>
                </c:pt>
                <c:pt idx="116">
                  <c:v>-2</c:v>
                </c:pt>
                <c:pt idx="117">
                  <c:v>-2</c:v>
                </c:pt>
                <c:pt idx="118">
                  <c:v>-2</c:v>
                </c:pt>
                <c:pt idx="119">
                  <c:v>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71-4EEA-A891-AB04699E37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DE2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4A5666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nl-NL" sz="1800" b="1">
                <a:solidFill>
                  <a:srgbClr val="1D1D1F"/>
                </a:solidFill>
                <a:latin typeface="Montserrat"/>
              </a:rPr>
              <a:t>Net P&amp;L vs cost per leg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P&amp;L (bps)</c:v>
                </c:pt>
              </c:strCache>
            </c:strRef>
          </c:tx>
          <c:spPr>
            <a:solidFill>
              <a:srgbClr val="3E526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1D1D1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 bps</c:v>
                </c:pt>
                <c:pt idx="1">
                  <c:v>0.5 bps</c:v>
                </c:pt>
                <c:pt idx="2">
                  <c:v>1 bps</c:v>
                </c:pt>
                <c:pt idx="3">
                  <c:v>2 bps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11.7</c:v>
                </c:pt>
                <c:pt idx="1">
                  <c:v>7.7</c:v>
                </c:pt>
                <c:pt idx="2">
                  <c:v>3.7</c:v>
                </c:pt>
                <c:pt idx="3">
                  <c:v>-4.3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2F-4576-891C-55E591A3E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DE2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4A5666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l="38928" r="16455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914400" y="4389120"/>
            <a:ext cx="1645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1D1D1F"/>
                </a:solidFill>
                <a:latin typeface="Montserrat"/>
              </a:rPr>
              <a:t>TEAM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" y="5303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D9822B"/>
                </a:solidFill>
                <a:latin typeface="IBM Plex Sans"/>
              </a:rPr>
              <a:t>TEAM NAME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" y="5650992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D1D1F"/>
                </a:solidFill>
                <a:latin typeface="IBM Plex Sans"/>
              </a:rPr>
              <a:t>[ Add your team name 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" y="6583679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D9822B"/>
                </a:solidFill>
                <a:latin typeface="IBM Plex Sans"/>
              </a:rPr>
              <a:t>MEMBER NAMES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" y="6931151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D1D1F"/>
                </a:solidFill>
                <a:latin typeface="IBM Plex Sans"/>
              </a:rPr>
              <a:t>[ Member 1 · Member 2 · Member 3 ]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78638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D9822B"/>
                </a:solidFill>
                <a:latin typeface="IBM Plex Sans"/>
              </a:rPr>
              <a:t>ROLES OF THE MEMBERS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4400" y="8211312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D1D1F"/>
                </a:solidFill>
                <a:latin typeface="IBM Plex Sans"/>
              </a:rPr>
              <a:t>[ Data/Quant · Backtesting · Dashboard &amp; Pitch ]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247120" y="4572000"/>
            <a:ext cx="6126480" cy="5074920"/>
          </a:xfrm>
          <a:prstGeom prst="roundRect">
            <a:avLst>
              <a:gd name="adj" fmla="val 6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1612880" y="4846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D9822B"/>
                </a:solidFill>
                <a:latin typeface="IBM Plex Sans"/>
              </a:rPr>
              <a:t>PROJECT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612880" y="52578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400" b="1">
                <a:solidFill>
                  <a:srgbClr val="1D1D1F"/>
                </a:solidFill>
                <a:latin typeface="Montserrat"/>
              </a:rPr>
              <a:t>GoldLens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612880" y="6309360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4A5666"/>
                </a:solidFill>
                <a:latin typeface="IBM Plex Sans"/>
              </a:rPr>
              <a:t>Cross-contract relative-value intelligence for MCX gold futures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4A5666"/>
                </a:solidFill>
                <a:latin typeface="IBM Plex Sans"/>
              </a:rPr>
              <a:t>Problem Statement 03: Commodity Derivatives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914400" y="1479837"/>
            <a:ext cx="1645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1D1D1F"/>
                </a:solidFill>
                <a:latin typeface="Montserrat"/>
              </a:rPr>
              <a:t>PROBLEM STATEMENT &amp; THEME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4400" y="2485677"/>
            <a:ext cx="7955279" cy="169887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188720" y="2668557"/>
            <a:ext cx="502920" cy="50292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920240" y="2732565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3E5266"/>
                </a:solidFill>
                <a:latin typeface="Montserrat"/>
              </a:rPr>
              <a:t>Problem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80160" y="3290349"/>
            <a:ext cx="7406640" cy="875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Four MCX gold contracts track one metal but differ in size, quote base, purity and expiry, so raw prices cannot be compared.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4400" y="4367427"/>
            <a:ext cx="7955279" cy="169887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188720" y="4550307"/>
            <a:ext cx="502920" cy="50292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920240" y="4614315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3E5266"/>
                </a:solidFill>
                <a:latin typeface="Montserrat"/>
              </a:rPr>
              <a:t>Why it is real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80160" y="5172099"/>
            <a:ext cx="7406640" cy="875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MCX really lists GOLDM, GOLDTEN, GOLDGUINEA and GOLDPETAL, with different expiry windows (3rd-5th vs 27th-31st).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6249178"/>
            <a:ext cx="7955279" cy="169887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188720" y="6432058"/>
            <a:ext cx="502920" cy="50292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20240" y="6496066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3E5266"/>
                </a:solidFill>
                <a:latin typeface="Montserrat"/>
              </a:rPr>
              <a:t>Impact: why we must act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80160" y="7053850"/>
            <a:ext cx="7406640" cy="875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Without normalising, traders misread gaps, and backtests overstate profit by ignoring costs, roll jumps and thin trading.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14400" y="8130929"/>
            <a:ext cx="7955279" cy="169887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188720" y="8313809"/>
            <a:ext cx="502920" cy="50292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20240" y="8377817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3E5266"/>
                </a:solidFill>
                <a:latin typeface="Montserrat"/>
              </a:rPr>
              <a:t>Theme Alignment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8935601"/>
            <a:ext cx="7406640" cy="875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Commodity Derivatives Intelligence: normalise, measure, test honestly. "No edge after costs" is a valid result.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35440" y="2485677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9822B"/>
                </a:solidFill>
                <a:latin typeface="IBM Plex Sans"/>
              </a:rPr>
              <a:t>REAL-WORLD READINGS: MCX GOLD CONTRACTS</a:t>
            </a:r>
          </a:p>
        </p:txBody>
      </p: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9235440" y="2942877"/>
          <a:ext cx="8138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Contract</a:t>
                      </a:r>
                    </a:p>
                  </a:txBody>
                  <a:tcPr marL="73152" marR="73152" anchor="ctr">
                    <a:solidFill>
                      <a:srgbClr val="3E5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Unit</a:t>
                      </a:r>
                    </a:p>
                  </a:txBody>
                  <a:tcPr marL="73152" marR="73152" anchor="ctr">
                    <a:solidFill>
                      <a:srgbClr val="3E5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Per</a:t>
                      </a:r>
                    </a:p>
                  </a:txBody>
                  <a:tcPr marL="73152" marR="73152" anchor="ctr">
                    <a:solidFill>
                      <a:srgbClr val="3E5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Purity</a:t>
                      </a:r>
                    </a:p>
                  </a:txBody>
                  <a:tcPr marL="73152" marR="73152" anchor="ctr">
                    <a:solidFill>
                      <a:srgbClr val="3E5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Expiry</a:t>
                      </a:r>
                    </a:p>
                  </a:txBody>
                  <a:tcPr marL="73152" marR="73152" anchor="ctr">
                    <a:solidFill>
                      <a:srgbClr val="3E52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To Rs/g @999</a:t>
                      </a:r>
                    </a:p>
                  </a:txBody>
                  <a:tcPr marL="73152" marR="73152" anchor="ctr">
                    <a:solidFill>
                      <a:srgbClr val="3E5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F"/>
                          </a:solidFill>
                          <a:latin typeface="IBM Plex Sans"/>
                        </a:rPr>
                        <a:t>GOLDM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100 g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10 g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995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3rd-5th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/10 x 999/995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F"/>
                          </a:solidFill>
                          <a:latin typeface="IBM Plex Sans"/>
                        </a:rPr>
                        <a:t>GOLDTEN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10 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10 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999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27th-31st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/10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F"/>
                          </a:solidFill>
                          <a:latin typeface="IBM Plex Sans"/>
                        </a:rPr>
                        <a:t>GOLDGUINEA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8 g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8 g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999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27th-31st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/8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F"/>
                          </a:solidFill>
                          <a:latin typeface="IBM Plex Sans"/>
                        </a:rPr>
                        <a:t>GOLDPETAL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1 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1 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999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27th-31st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F"/>
                          </a:solidFill>
                          <a:latin typeface="IBM Plex Sans"/>
                        </a:rPr>
                        <a:t>/1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" name="Rounded Rectangle 117"/>
          <p:cNvSpPr/>
          <p:nvPr/>
        </p:nvSpPr>
        <p:spPr>
          <a:xfrm>
            <a:off x="9235440" y="6097557"/>
            <a:ext cx="8138160" cy="3732243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555480" y="6280437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9822B"/>
                </a:solidFill>
                <a:latin typeface="IBM Plex Sans"/>
              </a:rPr>
              <a:t>WORKED EXAMPLE (ILLUSTRATIVE QUOTES)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737637"/>
            <a:ext cx="7498079" cy="3000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GOLDTEN Rs 1,20,000 per 10 g = Rs 12,000.0 per g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GOLDM Rs 1,19,500 per 10 g at 995 = Rs 11,998.0 per g at 999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Gap: Rs 2.0 per g, about 1.7 bps. Costs decide if it is tradable.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914400" y="1479837"/>
            <a:ext cx="1645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1D1D1F"/>
                </a:solidFill>
                <a:latin typeface="Montserrat"/>
              </a:rPr>
              <a:t>SOLUTION: PROTOTYPE FEATURES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14400" y="2485677"/>
            <a:ext cx="16459200" cy="1234440"/>
          </a:xfrm>
          <a:prstGeom prst="roundRect">
            <a:avLst>
              <a:gd name="adj" fmla="val 6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280160" y="2577117"/>
            <a:ext cx="157276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D1D1F"/>
                </a:solidFill>
                <a:latin typeface="IBM Plex Sans"/>
              </a:rPr>
              <a:t>Solution overview: GoldLens turns public MCX settlement data into a defensible relative-value signal. It compares all four gold contracts on one basis and alerts only when a gap beats cost.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14400" y="3948717"/>
            <a:ext cx="3909060" cy="2231881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143000" y="4131597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783080" y="4195605"/>
            <a:ext cx="29032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E5266"/>
                </a:solidFill>
                <a:latin typeface="Montserrat"/>
              </a:rPr>
              <a:t>Data pipeline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88720" y="4771677"/>
            <a:ext cx="3406140" cy="1363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Downloads Bhavcopy, validates the returned date, stores rows by expiry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097780" y="3948717"/>
            <a:ext cx="3909060" cy="2231881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5326380" y="4131597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66460" y="4195605"/>
            <a:ext cx="29032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E5266"/>
                </a:solidFill>
                <a:latin typeface="Montserrat"/>
              </a:rPr>
              <a:t>Normaliser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72100" y="4771677"/>
            <a:ext cx="3406140" cy="1363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Converts all four contracts to Rs per gram at 999 purity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281160" y="3948717"/>
            <a:ext cx="3909060" cy="2231881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9509760" y="4131597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149840" y="4195605"/>
            <a:ext cx="29032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E5266"/>
                </a:solidFill>
                <a:latin typeface="Montserrat"/>
              </a:rPr>
              <a:t>Spread monitor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55480" y="4771677"/>
            <a:ext cx="3406140" cy="1363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Rolling z-score flags when one contract looks cheap or rich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3464540" y="3948717"/>
            <a:ext cx="3909060" cy="2231881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3693140" y="4131597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333220" y="4195605"/>
            <a:ext cx="29032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E5266"/>
                </a:solidFill>
                <a:latin typeface="Montserrat"/>
              </a:rPr>
              <a:t>Term-structure view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738860" y="4771677"/>
            <a:ext cx="3406140" cy="1363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Splits roll-down toward expiry from real curve changes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14400" y="6363478"/>
            <a:ext cx="3909060" cy="2231881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143000" y="6546358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783080" y="6610366"/>
            <a:ext cx="29032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E5266"/>
                </a:solidFill>
                <a:latin typeface="Montserrat"/>
              </a:rPr>
              <a:t>Walk-forward backtest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88720" y="7186438"/>
            <a:ext cx="3406140" cy="1363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Day-by-day replay, no look-ahead, costs and thin-day slippage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097780" y="6363478"/>
            <a:ext cx="3909060" cy="2231881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5326380" y="6546358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966460" y="6610366"/>
            <a:ext cx="29032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E5266"/>
                </a:solidFill>
                <a:latin typeface="Montserrat"/>
              </a:rPr>
              <a:t>Attribution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72100" y="7186438"/>
            <a:ext cx="3406140" cy="1363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Separates strategy P&amp;L from the gold-price move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281160" y="6363478"/>
            <a:ext cx="3909060" cy="2231881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9509760" y="6546358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149840" y="6610366"/>
            <a:ext cx="29032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E5266"/>
                </a:solidFill>
                <a:latin typeface="Montserrat"/>
              </a:rPr>
              <a:t>Quiet alerts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555480" y="7186438"/>
            <a:ext cx="3406140" cy="1363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Streamlit dashboard, silent without a real signal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3464540" y="6363478"/>
            <a:ext cx="3909060" cy="2231881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3693140" y="6546358"/>
            <a:ext cx="457200" cy="4572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333220" y="6610366"/>
            <a:ext cx="29032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3E5266"/>
                </a:solidFill>
                <a:latin typeface="Montserrat"/>
              </a:rPr>
              <a:t>Contract calendar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3738860" y="7186438"/>
            <a:ext cx="3406140" cy="1363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Marks listing, tender and expiry dates on every entry and exit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14400" y="8823960"/>
            <a:ext cx="16459200" cy="1005840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280160" y="8915400"/>
            <a:ext cx="15727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Unique value: tracks contracts by expiry date, reports P&amp;L net of costs on the contracts actually held, and separates strategy return from gold-price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914400" y="1479837"/>
            <a:ext cx="1645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1D1D1F"/>
                </a:solidFill>
                <a:latin typeface="Montserrat"/>
              </a:rPr>
              <a:t>ARCHITECTURE &amp; WORKFLOW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" y="2485677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280160" y="2759997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3E5266"/>
                </a:solidFill>
                <a:latin typeface="Montserrat"/>
              </a:rPr>
              <a:t>Tech stack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80160" y="3400077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Python, pandas, NumPy, statsmodels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Parquet / DuckDB storage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Streamlit + Plotly dashboard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537960" y="2485677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903720" y="2759997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3E5266"/>
                </a:solidFill>
                <a:latin typeface="Montserrat"/>
              </a:rPr>
              <a:t>Data flow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03720" y="3400077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Download Bhavcopy by date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Key every row by expiry date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Compute in pandas, show in Streamlit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2161520" y="2485677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2527280" y="2759997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3E5266"/>
                </a:solidFill>
                <a:latin typeface="Montserrat"/>
              </a:rPr>
              <a:t>APIs used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527280" y="3400077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MCX Daily Bhavcopy (public, no key)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MCX gold contract specs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1D1D1F"/>
                </a:solidFill>
                <a:latin typeface="IBM Plex Sans"/>
              </a:rPr>
              <a:t>No paid or private APIs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5228877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9822B"/>
                </a:solidFill>
                <a:latin typeface="IBM Plex Sans"/>
              </a:rPr>
              <a:t>WORKFLOW: RAW BHAVCOPY TO ALERT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14400" y="5686077"/>
            <a:ext cx="2468880" cy="4143723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143000" y="5914677"/>
            <a:ext cx="548640" cy="54864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43000" y="6646197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Ingest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43000" y="7149117"/>
            <a:ext cx="2057400" cy="258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IBM Plex Sans"/>
              </a:rPr>
              <a:t>Daily Bhavcopy for each date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3392424" y="7575058"/>
            <a:ext cx="310896" cy="365760"/>
          </a:xfrm>
          <a:prstGeom prst="rightArrow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3712464" y="5686077"/>
            <a:ext cx="2468880" cy="4143723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3941064" y="5914677"/>
            <a:ext cx="548640" cy="54864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941064" y="6646197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Validate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41064" y="7149117"/>
            <a:ext cx="2057400" cy="258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IBM Plex Sans"/>
              </a:rPr>
              <a:t>Check returned date; fix DD/MM vs MM/DD</a:t>
            </a:r>
          </a:p>
        </p:txBody>
      </p:sp>
      <p:sp>
        <p:nvSpPr>
          <p:cNvPr id="137" name="Right Arrow 136"/>
          <p:cNvSpPr/>
          <p:nvPr/>
        </p:nvSpPr>
        <p:spPr>
          <a:xfrm>
            <a:off x="6190488" y="7575058"/>
            <a:ext cx="310896" cy="365760"/>
          </a:xfrm>
          <a:prstGeom prst="rightArrow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6510528" y="5686077"/>
            <a:ext cx="2468880" cy="4143723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6739128" y="5914677"/>
            <a:ext cx="548640" cy="54864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739128" y="6646197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Normalise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739128" y="7149117"/>
            <a:ext cx="2057400" cy="258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IBM Plex Sans"/>
              </a:rPr>
              <a:t>Rs/g at 999 purity, per expiry</a:t>
            </a:r>
          </a:p>
        </p:txBody>
      </p:sp>
      <p:sp>
        <p:nvSpPr>
          <p:cNvPr id="142" name="Right Arrow 141"/>
          <p:cNvSpPr/>
          <p:nvPr/>
        </p:nvSpPr>
        <p:spPr>
          <a:xfrm>
            <a:off x="8988552" y="7575058"/>
            <a:ext cx="310896" cy="365760"/>
          </a:xfrm>
          <a:prstGeom prst="rightArrow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9308592" y="5686077"/>
            <a:ext cx="2468880" cy="4143723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9537192" y="5914677"/>
            <a:ext cx="548640" cy="54864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37192" y="6646197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Signal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537192" y="7149117"/>
            <a:ext cx="2057400" cy="258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IBM Plex Sans"/>
              </a:rPr>
              <a:t>Spread z-score; remove roll-down</a:t>
            </a:r>
          </a:p>
        </p:txBody>
      </p:sp>
      <p:sp>
        <p:nvSpPr>
          <p:cNvPr id="147" name="Right Arrow 146"/>
          <p:cNvSpPr/>
          <p:nvPr/>
        </p:nvSpPr>
        <p:spPr>
          <a:xfrm>
            <a:off x="11786615" y="7575058"/>
            <a:ext cx="310896" cy="365760"/>
          </a:xfrm>
          <a:prstGeom prst="rightArrow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12106656" y="5686077"/>
            <a:ext cx="2468880" cy="4143723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2335256" y="5914677"/>
            <a:ext cx="548640" cy="54864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2335256" y="6646197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Backtest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335256" y="7149117"/>
            <a:ext cx="2057400" cy="258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IBM Plex Sans"/>
              </a:rPr>
              <a:t>Walk-forward, costs on held legs</a:t>
            </a:r>
          </a:p>
        </p:txBody>
      </p:sp>
      <p:sp>
        <p:nvSpPr>
          <p:cNvPr id="152" name="Right Arrow 151"/>
          <p:cNvSpPr/>
          <p:nvPr/>
        </p:nvSpPr>
        <p:spPr>
          <a:xfrm>
            <a:off x="14584680" y="7575058"/>
            <a:ext cx="310896" cy="365760"/>
          </a:xfrm>
          <a:prstGeom prst="rightArrow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14904720" y="5686077"/>
            <a:ext cx="2468880" cy="4143723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5133320" y="5914677"/>
            <a:ext cx="548640" cy="54864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5133320" y="6646197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Alert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5133320" y="7149117"/>
            <a:ext cx="2057400" cy="2589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IBM Plex Sans"/>
              </a:rPr>
              <a:t>Dashboard, quiet by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TextBox 125"/>
          <p:cNvSpPr txBox="1"/>
          <p:nvPr/>
        </p:nvSpPr>
        <p:spPr>
          <a:xfrm>
            <a:off x="914400" y="1479837"/>
            <a:ext cx="1645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1D1D1F"/>
                </a:solidFill>
                <a:latin typeface="Montserrat"/>
              </a:rPr>
              <a:t>MARKET RESEARCH / ANALYSIS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2485677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9822B"/>
                </a:solidFill>
                <a:latin typeface="IBM Plex Sans"/>
              </a:rPr>
              <a:t>TARGET USERS AND MARKET SIZE FUNNEL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14400" y="2942877"/>
            <a:ext cx="7863840" cy="1097280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097280" y="2942877"/>
            <a:ext cx="749807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All MCX bullion participants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737360" y="4131597"/>
            <a:ext cx="6217920" cy="1097280"/>
          </a:xfrm>
          <a:prstGeom prst="roundRect">
            <a:avLst>
              <a:gd name="adj" fmla="val 6000"/>
            </a:avLst>
          </a:prstGeom>
          <a:solidFill>
            <a:srgbClr val="5C7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920240" y="4131597"/>
            <a:ext cx="585215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Gold futures traders and hedgers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560320" y="5320317"/>
            <a:ext cx="4572000" cy="1097280"/>
          </a:xfrm>
          <a:prstGeom prst="roundRect">
            <a:avLst>
              <a:gd name="adj" fmla="val 6000"/>
            </a:avLst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743200" y="5320317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1D1D1F"/>
                </a:solidFill>
                <a:latin typeface="IBM Plex Sans"/>
              </a:rPr>
              <a:t>Beachhead: relative-value traders, quant students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6646197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9822B"/>
                </a:solidFill>
                <a:latin typeface="IBM Plex Sans"/>
              </a:rPr>
              <a:t>WHO USES IT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14400" y="7057677"/>
            <a:ext cx="2499359" cy="11887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097280" y="7057677"/>
            <a:ext cx="2133599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Prop and retail traders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596640" y="7057677"/>
            <a:ext cx="2499359" cy="11887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779519" y="7057677"/>
            <a:ext cx="2133599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Jewellers and dealers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278880" y="7057677"/>
            <a:ext cx="2499359" cy="11887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461760" y="7057677"/>
            <a:ext cx="2133599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Brokers and advisors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4400" y="8383557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4A5666"/>
                </a:solidFill>
                <a:latin typeface="IBM Plex Sans"/>
              </a:rPr>
              <a:t>Add turnover and user counts from MCX/SEBI reports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326880" y="2485677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9822B"/>
                </a:solidFill>
                <a:latin typeface="IBM Plex Sans"/>
              </a:rPr>
              <a:t>REVENUE MODEL: A LADDER OF OFFERS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326880" y="5137437"/>
            <a:ext cx="1828800" cy="1645920"/>
          </a:xfrm>
          <a:prstGeom prst="roundRect">
            <a:avLst>
              <a:gd name="adj" fmla="val 6000"/>
            </a:avLst>
          </a:prstGeom>
          <a:solidFill>
            <a:srgbClr val="B9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9464040" y="5320317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Free dashboard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464040" y="6097557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D1D1F"/>
                </a:solidFill>
                <a:latin typeface="IBM Plex Sans"/>
              </a:rPr>
              <a:t>Free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1402567" y="4405917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1539728" y="4588797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Pro alerts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539728" y="5366037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D1D1F"/>
                </a:solidFill>
                <a:latin typeface="IBM Plex Sans"/>
              </a:rPr>
              <a:t>Subscription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3478255" y="3674396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5C7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3615415" y="3857276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IBM Plex Sans"/>
              </a:rPr>
              <a:t>Broker API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615415" y="4634516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Data feed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5553943" y="2942876"/>
            <a:ext cx="1828800" cy="3840480"/>
          </a:xfrm>
          <a:prstGeom prst="roundRect">
            <a:avLst>
              <a:gd name="adj" fmla="val 6000"/>
            </a:avLst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5691103" y="3125757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IBM Plex Sans"/>
              </a:rPr>
              <a:t>White-label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5691103" y="3902996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B2B licence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326880" y="7057677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9822B"/>
                </a:solidFill>
                <a:latin typeface="IBM Plex Sans"/>
              </a:rPr>
              <a:t>EXPECTED GROWTH PATH</a:t>
            </a:r>
          </a:p>
        </p:txBody>
      </p:sp>
      <p:sp>
        <p:nvSpPr>
          <p:cNvPr id="156" name="Pentagon 155"/>
          <p:cNvSpPr/>
          <p:nvPr/>
        </p:nvSpPr>
        <p:spPr>
          <a:xfrm>
            <a:off x="9326880" y="7469157"/>
            <a:ext cx="2834640" cy="1143000"/>
          </a:xfrm>
          <a:prstGeom prst="homePlate">
            <a:avLst/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555480" y="7469157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Today: MCX gold</a:t>
            </a:r>
          </a:p>
        </p:txBody>
      </p:sp>
      <p:sp>
        <p:nvSpPr>
          <p:cNvPr id="158" name="Pentagon 157"/>
          <p:cNvSpPr/>
          <p:nvPr/>
        </p:nvSpPr>
        <p:spPr>
          <a:xfrm>
            <a:off x="11932919" y="7469157"/>
            <a:ext cx="2834640" cy="1143000"/>
          </a:xfrm>
          <a:prstGeom prst="homePlate">
            <a:avLst/>
          </a:prstGeom>
          <a:solidFill>
            <a:srgbClr val="5C7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2161519" y="7469157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IBM Plex Sans"/>
              </a:rPr>
              <a:t>Next: silver, base metals</a:t>
            </a:r>
          </a:p>
        </p:txBody>
      </p:sp>
      <p:sp>
        <p:nvSpPr>
          <p:cNvPr id="160" name="Pentagon 159"/>
          <p:cNvSpPr/>
          <p:nvPr/>
        </p:nvSpPr>
        <p:spPr>
          <a:xfrm>
            <a:off x="14538959" y="7469157"/>
            <a:ext cx="2834640" cy="1143000"/>
          </a:xfrm>
          <a:prstGeom prst="homePlat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4767559" y="7469157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D1D1F"/>
                </a:solidFill>
                <a:latin typeface="IBM Plex Sans"/>
              </a:rPr>
              <a:t>Later: other exchanges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14400" y="891540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9822B"/>
                </a:solidFill>
                <a:latin typeface="IBM Plex Sans"/>
              </a:rPr>
              <a:t>WHY IT CAN GROW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200400" y="891540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429000" y="89154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D1D1F"/>
                </a:solidFill>
                <a:latin typeface="IBM Plex Sans"/>
              </a:rPr>
              <a:t>Driver: small lots like 1 g Petal lower the entry barrier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955279" y="891540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8183879" y="89154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D1D1F"/>
                </a:solidFill>
                <a:latin typeface="IBM Plex Sans"/>
              </a:rPr>
              <a:t>Gap: general charting tools do not normalise across contract sizes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2710160" y="891540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2938760" y="89154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D1D1F"/>
                </a:solidFill>
                <a:latin typeface="IBM Plex Sans"/>
              </a:rPr>
              <a:t>Edge: free public data keeps the cost to serve 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914400" y="1479837"/>
            <a:ext cx="1645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1D1D1F"/>
                </a:solidFill>
                <a:latin typeface="Montserrat"/>
              </a:rPr>
              <a:t>FUTURE SCOPE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80160" y="4177317"/>
            <a:ext cx="15453359" cy="109728"/>
          </a:xfrm>
          <a:prstGeom prst="rect">
            <a:avLst/>
          </a:prstGeom>
          <a:solidFill>
            <a:srgbClr val="3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ight Arrow 136"/>
          <p:cNvSpPr/>
          <p:nvPr/>
        </p:nvSpPr>
        <p:spPr>
          <a:xfrm>
            <a:off x="16733520" y="4049300"/>
            <a:ext cx="310896" cy="365760"/>
          </a:xfrm>
          <a:prstGeom prst="rightArrow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14400" y="2577117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3E5266"/>
                </a:solidFill>
                <a:latin typeface="Montserrat"/>
              </a:rPr>
              <a:t>Mobile app deployment</a:t>
            </a:r>
          </a:p>
        </p:txBody>
      </p:sp>
      <p:sp>
        <p:nvSpPr>
          <p:cNvPr id="139" name="Oval 138"/>
          <p:cNvSpPr/>
          <p:nvPr/>
        </p:nvSpPr>
        <p:spPr>
          <a:xfrm>
            <a:off x="2423160" y="3811557"/>
            <a:ext cx="822960" cy="82296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14400" y="5000277"/>
            <a:ext cx="3840480" cy="4829523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188720" y="522887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D9822B"/>
                </a:solidFill>
                <a:latin typeface="IBM Plex Sans"/>
              </a:rPr>
              <a:t>NEXT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88720" y="5731797"/>
            <a:ext cx="3337560" cy="3915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Push and Telegram alerts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Contract calendar on phone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Watchlist of cheap/rich spreads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Custom alert thresholds per user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88720" y="8458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9822B"/>
                </a:solidFill>
                <a:latin typeface="IBM Plex Sans"/>
              </a:rPr>
              <a:t>OUTCOME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88720" y="8823960"/>
            <a:ext cx="3337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Act on signals within minutes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166360" y="2577117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3E5266"/>
                </a:solidFill>
                <a:latin typeface="Montserrat"/>
              </a:rPr>
              <a:t>AI model improvement</a:t>
            </a:r>
          </a:p>
        </p:txBody>
      </p:sp>
      <p:sp>
        <p:nvSpPr>
          <p:cNvPr id="146" name="Oval 145"/>
          <p:cNvSpPr/>
          <p:nvPr/>
        </p:nvSpPr>
        <p:spPr>
          <a:xfrm>
            <a:off x="6675120" y="3811557"/>
            <a:ext cx="822960" cy="82296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166360" y="5000277"/>
            <a:ext cx="3840480" cy="4829523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440680" y="522887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D9822B"/>
                </a:solidFill>
                <a:latin typeface="IBM Plex Sans"/>
              </a:rPr>
              <a:t>THEN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440680" y="5731797"/>
            <a:ext cx="3337560" cy="3915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Regime detection for thresholds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Liquidity-aware fill model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Learn costs from thin days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Auto-detect data errors and outliers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40680" y="8458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9822B"/>
                </a:solidFill>
                <a:latin typeface="IBM Plex Sans"/>
              </a:rPr>
              <a:t>OUTCOME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40680" y="8823960"/>
            <a:ext cx="3337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Fewer false alerts, tuned to each market regime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18320" y="2577117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3E5266"/>
                </a:solidFill>
                <a:latin typeface="Montserrat"/>
              </a:rPr>
              <a:t>Enterprise integrations</a:t>
            </a:r>
          </a:p>
        </p:txBody>
      </p:sp>
      <p:sp>
        <p:nvSpPr>
          <p:cNvPr id="153" name="Oval 152"/>
          <p:cNvSpPr/>
          <p:nvPr/>
        </p:nvSpPr>
        <p:spPr>
          <a:xfrm>
            <a:off x="10927080" y="3811557"/>
            <a:ext cx="822960" cy="82296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418320" y="5000277"/>
            <a:ext cx="3840480" cy="4829523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9692640" y="522887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D9822B"/>
                </a:solidFill>
                <a:latin typeface="IBM Plex Sans"/>
              </a:rPr>
              <a:t>LATER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92640" y="5731797"/>
            <a:ext cx="3337560" cy="3915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Broker and OMS connectors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Risk-desk exports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Audit logs and SSO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Team accounts with role access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692640" y="8458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9822B"/>
                </a:solidFill>
                <a:latin typeface="IBM Plex Sans"/>
              </a:rPr>
              <a:t>OUTCOME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692640" y="8823960"/>
            <a:ext cx="3337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Fits desk workflows and compliance needs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670280" y="2577117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3E5266"/>
                </a:solidFill>
                <a:latin typeface="Montserrat"/>
              </a:rPr>
              <a:t>Scaling to global users</a:t>
            </a:r>
          </a:p>
        </p:txBody>
      </p:sp>
      <p:sp>
        <p:nvSpPr>
          <p:cNvPr id="160" name="Oval 159"/>
          <p:cNvSpPr/>
          <p:nvPr/>
        </p:nvSpPr>
        <p:spPr>
          <a:xfrm>
            <a:off x="15179040" y="3811557"/>
            <a:ext cx="822960" cy="82296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3670280" y="5000277"/>
            <a:ext cx="3840480" cy="4829523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3944600" y="522887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D9822B"/>
                </a:solidFill>
                <a:latin typeface="IBM Plex Sans"/>
              </a:rPr>
              <a:t>VISION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3944600" y="5731797"/>
            <a:ext cx="3337560" cy="3915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Compare with COMEX and LBMA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Other metals and exchanges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Multi-currency support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D1D1F"/>
                </a:solidFill>
                <a:latin typeface="IBM Plex Sans"/>
              </a:rPr>
              <a:t>Live intraday data, not just daily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3944600" y="8458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9822B"/>
                </a:solidFill>
                <a:latin typeface="IBM Plex Sans"/>
              </a:rPr>
              <a:t>OUTCOME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944600" y="8823960"/>
            <a:ext cx="3337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One view of gold across venues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TextBox 143"/>
          <p:cNvSpPr txBox="1"/>
          <p:nvPr/>
        </p:nvSpPr>
        <p:spPr>
          <a:xfrm>
            <a:off x="914400" y="1479837"/>
            <a:ext cx="1645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1D1D1F"/>
                </a:solidFill>
                <a:latin typeface="Montserrat"/>
              </a:rPr>
              <a:t>EXTRA: BACKTEST SIGNAL &amp; RESULTS (ILLUSTRATIVE)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914400" y="2485677"/>
          <a:ext cx="8229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6" name="Chart 145"/>
          <p:cNvGraphicFramePr>
            <a:graphicFrameLocks noGrp="1"/>
          </p:cNvGraphicFramePr>
          <p:nvPr/>
        </p:nvGraphicFramePr>
        <p:xfrm>
          <a:off x="9326880" y="2485677"/>
          <a:ext cx="80467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7" name="Rounded Rectangle 146"/>
          <p:cNvSpPr/>
          <p:nvPr/>
        </p:nvSpPr>
        <p:spPr>
          <a:xfrm>
            <a:off x="914400" y="6691916"/>
            <a:ext cx="8229600" cy="3137883"/>
          </a:xfrm>
          <a:prstGeom prst="roundRect">
            <a:avLst>
              <a:gd name="adj" fmla="val 6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280160" y="6874797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9822B"/>
                </a:solidFill>
                <a:latin typeface="IBM Plex Sans"/>
              </a:rPr>
              <a:t>WHAT THE CHARTS SHOW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80160" y="7286277"/>
            <a:ext cx="7498079" cy="249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D1D1F"/>
                </a:solidFill>
                <a:latin typeface="IBM Plex Sans"/>
              </a:rPr>
              <a:t>Synthetic data, 2 trades. The edge vanishes near 1.5 bps per leg, so costs decide the result. Real Bhavcopy data replaces this in the prototype.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326880" y="6691916"/>
            <a:ext cx="8046720" cy="3137883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692640" y="6874797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9822B"/>
                </a:solidFill>
                <a:latin typeface="IBM Plex Sans"/>
              </a:rPr>
              <a:t>LIMITS WE STATE UPFRONT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92640" y="7286277"/>
            <a:ext cx="7315200" cy="249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Settlement is not a fill price; volume is not depth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GOLDTEN history starts in 2025, so tests are shorter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D1D1F"/>
                </a:solidFill>
                <a:latin typeface="IBM Plex Sans"/>
              </a:rPr>
              <a:t>"No edge after costs" is a valid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l="38928" r="16455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TextBox 159"/>
          <p:cNvSpPr txBox="1"/>
          <p:nvPr/>
        </p:nvSpPr>
        <p:spPr>
          <a:xfrm>
            <a:off x="914400" y="4389120"/>
            <a:ext cx="1645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7200" b="1">
                <a:solidFill>
                  <a:srgbClr val="1D1D1F"/>
                </a:solidFill>
                <a:latin typeface="Montserra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</Words>
  <Application>Microsoft Office PowerPoint</Application>
  <PresentationFormat>Custom</PresentationFormat>
  <Paragraphs>192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Montserrat</vt:lpstr>
      <vt:lpstr>IBM Plex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Vaishnavi Kudari</cp:lastModifiedBy>
  <cp:revision>1</cp:revision>
  <dcterms:modified xsi:type="dcterms:W3CDTF">2026-10-06T06:15:54Z</dcterms:modified>
</cp:coreProperties>
</file>